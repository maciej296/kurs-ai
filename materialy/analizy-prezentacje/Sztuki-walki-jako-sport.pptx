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Inter Medium"/>
      <p:regular r:id="rId201314"/>
    </p:embeddedFont>
    <p:embeddedFont>
      <p:font typeface="Inter SemiBold"/>
      <p:regular r:id="rId201315"/>
    </p:embeddedFont>
    <p:embeddedFont>
      <p:font typeface="Inter Bold"/>
      <p:regular r:id="rId201316"/>
    </p:embeddedFont>
    <p:embeddedFont>
      <p:font typeface="Inter"/>
      <p:regular r:id="rId201317"/>
    </p:embeddedFont>
    <p:embeddedFont>
      <p:font typeface="Space Grotesk SemiBold"/>
      <p:regular r:id="rId201318"/>
    </p:embeddedFont>
    <p:embeddedFont>
      <p:font typeface="Space Grotesk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Otwórz prezentację wyjaśnieniem, że współczesne sztuki walki to przede wszystkim bezpieczny, sformalizowany sport oparty na szacunku i zasadach fair play, a nie bójka.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Wyjaśnij podział na sporty uderzane, chwytane i mieszane. Zwróć uwagę, że każda grupa stawia na zupełnie inne cechy motoryczne i strategie walki.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Podkreśl, że w boksie olimpijskim kluczem jest technika, unikanie ciosów i punktowanie, a nie nokaut. Zwróć uwagę na rolę limitów wagowych.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Wyjaśnij różnicę między kumite (walką) a kata (pokazem układów). Zaznacz, że karate weszło na igrzyska w Tokio 2020 i wymaga absolutnego panowania nad siłą uderzeń.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Porównaj techniki judo i zapasów na przejrzystej tabeli. Zwróć uwagę na kluczową różnicę olimpijską: styl klasyczny nie pozwala na chwyty za nogi, styl wolny tak.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Wskaż na spektakularność taekwondo olimpijskiego. Wyjaśnij rolę czujników elektronicznych w ochraniaczach, które wymuszają czystość i precyzję uderzeń.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Przedstaw strukturę jednostki treningowej. Zaznacz, że sporty walki kształtują charakter i opanowanie emocjonalne, a nie agresję.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Podsumuj prezentację: bezpieczeństwo, ochraniacze i profesjonalny instruktor to fundament. Zachęć uczniów do wyboru dyscypliny dopasowanej do ich charakteru.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B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B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818515"/>
            <a:ext cx="193471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EDUKACJA SPORTOWA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157062" y="818515"/>
            <a:ext cx="192023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PRZEGLĄD DYSCYPLIN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5156" y="1388368"/>
            <a:ext cx="8019849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b="1" spc="-84" kern="1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Sztuki walki jako sport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65156" y="2253555"/>
            <a:ext cx="8629434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Zasady, technika i dyscyplina zamiast siły bez kontroli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5156" y="3054052"/>
            <a:ext cx="86294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spc="12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Przewodnik dla uczniów o współczesnych sportach walki, ich tradycji i bezpiecznym treningu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922118" y="812800"/>
            <a:ext cx="12700" cy="205680"/>
          </a:xfrm>
          <a:prstGeom prst="rect">
            <a:avLst/>
          </a:prstGeom>
          <a:solidFill>
            <a:srgbClr val="4A525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STRUKTURA SPORTÓW WALKI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7030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Jedna nazwa, wiele różnych dyscyplin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729482"/>
            <a:ext cx="2135233" cy="2868613"/>
          </a:xfrm>
          <a:prstGeom prst="rect">
            <a:avLst/>
          </a:prstGeom>
          <a:solidFill>
            <a:srgbClr val="3A3D41"/>
          </a:solidFill>
          <a:ln/>
        </p:spPr>
      </p:sp>
      <p:sp>
        <p:nvSpPr>
          <p:cNvPr id="5" name="Shape 3"/>
          <p:cNvSpPr/>
          <p:nvPr/>
        </p:nvSpPr>
        <p:spPr>
          <a:xfrm>
            <a:off x="812780" y="1958082"/>
            <a:ext cx="1284553" cy="336649"/>
          </a:xfrm>
          <a:prstGeom prst="roundRect">
            <a:avLst>
              <a:gd name="adj" fmla="val 7696"/>
            </a:avLst>
          </a:prstGeom>
          <a:solidFill>
            <a:srgbClr val="384705"/>
          </a:solidFill>
          <a:ln/>
        </p:spPr>
      </p:sp>
      <p:sp>
        <p:nvSpPr>
          <p:cNvPr id="6" name="Text 4"/>
          <p:cNvSpPr/>
          <p:nvPr/>
        </p:nvSpPr>
        <p:spPr>
          <a:xfrm>
            <a:off x="942257" y="2037632"/>
            <a:ext cx="1635183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82" kern="100" dirty="0">
                <a:solidFill>
                  <a:srgbClr val="D3D8D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UDERZANE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12780" y="2445150"/>
            <a:ext cx="17288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spc="-36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Boks, Karate, Taekwondo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780" y="3034506"/>
            <a:ext cx="1728843" cy="13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Dystans, precyzja ciosów i kopnięć. Kluczowe są timing, uniki i praca stóp.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2871716" y="1729482"/>
            <a:ext cx="2135333" cy="2868613"/>
          </a:xfrm>
          <a:prstGeom prst="rect">
            <a:avLst/>
          </a:prstGeom>
          <a:solidFill>
            <a:srgbClr val="3A3D41"/>
          </a:solidFill>
          <a:ln/>
        </p:spPr>
      </p:sp>
      <p:sp>
        <p:nvSpPr>
          <p:cNvPr id="10" name="Shape 8"/>
          <p:cNvSpPr/>
          <p:nvPr/>
        </p:nvSpPr>
        <p:spPr>
          <a:xfrm>
            <a:off x="3074911" y="1958082"/>
            <a:ext cx="1359362" cy="336649"/>
          </a:xfrm>
          <a:prstGeom prst="roundRect">
            <a:avLst>
              <a:gd name="adj" fmla="val 7696"/>
            </a:avLst>
          </a:prstGeom>
          <a:solidFill>
            <a:srgbClr val="384705"/>
          </a:solidFill>
          <a:ln/>
        </p:spPr>
      </p:sp>
      <p:sp>
        <p:nvSpPr>
          <p:cNvPr id="11" name="Text 9"/>
          <p:cNvSpPr/>
          <p:nvPr/>
        </p:nvSpPr>
        <p:spPr>
          <a:xfrm>
            <a:off x="3204388" y="2037632"/>
            <a:ext cx="1709992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82" kern="100" dirty="0">
                <a:solidFill>
                  <a:srgbClr val="D3D8D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CHWYTANE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74911" y="2445150"/>
            <a:ext cx="17289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spc="-36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Judo i Zapasy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74911" y="2805906"/>
            <a:ext cx="1728943" cy="13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Zwarcie, rzuty, kontrola w parterze oraz wykorzystanie masy i pędu rywala.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133946" y="1729482"/>
            <a:ext cx="2135333" cy="2868613"/>
          </a:xfrm>
          <a:prstGeom prst="rect">
            <a:avLst/>
          </a:prstGeom>
          <a:solidFill>
            <a:srgbClr val="3A3D41"/>
          </a:solidFill>
          <a:ln/>
        </p:spPr>
      </p:sp>
      <p:sp>
        <p:nvSpPr>
          <p:cNvPr id="15" name="Shape 13"/>
          <p:cNvSpPr/>
          <p:nvPr/>
        </p:nvSpPr>
        <p:spPr>
          <a:xfrm>
            <a:off x="5337141" y="1958082"/>
            <a:ext cx="1484176" cy="336649"/>
          </a:xfrm>
          <a:prstGeom prst="roundRect">
            <a:avLst>
              <a:gd name="adj" fmla="val 7696"/>
            </a:avLst>
          </a:prstGeom>
          <a:solidFill>
            <a:srgbClr val="384705"/>
          </a:solidFill>
          <a:ln/>
        </p:spPr>
      </p:sp>
      <p:sp>
        <p:nvSpPr>
          <p:cNvPr id="16" name="Text 14"/>
          <p:cNvSpPr/>
          <p:nvPr/>
        </p:nvSpPr>
        <p:spPr>
          <a:xfrm>
            <a:off x="5466618" y="2037632"/>
            <a:ext cx="1802660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82" kern="100" dirty="0">
                <a:solidFill>
                  <a:srgbClr val="D3D8D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HYBRYDOWE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337141" y="2445150"/>
            <a:ext cx="17289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spc="-36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MMA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37141" y="2805906"/>
            <a:ext cx="1728943" cy="13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Płynne łączenie stójki, klinczu i parteru pod ścisłym nadzorem sędziowskim.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09585" y="4830266"/>
            <a:ext cx="6659694" cy="536575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Każda kategoria ma odrębny zestaw reguł, odmienną matę lub ring oraz własny system punktacji olimpijskiej.</a:t>
            </a:r>
            <a:endParaRPr lang="en-US" sz="12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368" y="1500882"/>
            <a:ext cx="3855743" cy="474751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807430" y="6451898"/>
            <a:ext cx="384265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SZERMIERKA NA PIĘŚCI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7030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Boks opiera się na pracy rąk, rytmie i obronie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500882"/>
            <a:ext cx="431789" cy="43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063492"/>
            <a:ext cx="342891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Kontrola w ringu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09585" y="2523827"/>
            <a:ext cx="3428914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Walka toczy się na ograniczonej przestrzeni, w rękawicach amortyzujących uderzenia i pod stałym nadzorem sędziego ringowego.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09585" y="4167188"/>
            <a:ext cx="36575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Obszar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A3ABA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Ring 6×6 m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688" y="1500882"/>
            <a:ext cx="431789" cy="431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95688" y="2063492"/>
            <a:ext cx="320032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Rytm i defensywa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495688" y="2523827"/>
            <a:ext cx="3200320" cy="13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Czyste trafienia to efekt pracy nóg, rotacji tułowia i uników. Najważniejsza umiejętność boksera to unikanie ciosów, a nie ich przyjmowanie.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495688" y="4167188"/>
            <a:ext cx="342891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Filary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A3ABA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Unik · Dystans · Kontra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196" y="1500882"/>
            <a:ext cx="431789" cy="431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53196" y="2063492"/>
            <a:ext cx="342891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Rundy i kategorie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8153196" y="2523827"/>
            <a:ext cx="3428914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Czas podzielony na 2- lub 3-minutowe rundy oraz rygorystyczny podział wagowy dbają o równe szanse i zdrowie zawodników.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8153196" y="4167188"/>
            <a:ext cx="342891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A3ABA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Ochrona zdrowia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09585" y="4581128"/>
            <a:ext cx="5422764" cy="1557536"/>
          </a:xfrm>
          <a:prstGeom prst="rect">
            <a:avLst/>
          </a:prstGeom>
          <a:solidFill>
            <a:srgbClr val="3A3D41"/>
          </a:solidFill>
          <a:ln/>
        </p:spPr>
      </p:sp>
      <p:sp>
        <p:nvSpPr>
          <p:cNvPr id="17" name="Text 12"/>
          <p:cNvSpPr/>
          <p:nvPr/>
        </p:nvSpPr>
        <p:spPr>
          <a:xfrm>
            <a:off x="838179" y="4766548"/>
            <a:ext cx="519417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KLUCZ TAKTYCZNY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38179" y="5066112"/>
            <a:ext cx="49655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spc="-36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Boks to sport myślenia przestrzennego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38179" y="5426869"/>
            <a:ext cx="496557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Każdy atak zaczyna się od ustawienia stóp. Zła pozycja uniemożliwia obronę.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6159346" y="4581128"/>
            <a:ext cx="5422764" cy="1557536"/>
          </a:xfrm>
          <a:prstGeom prst="rect">
            <a:avLst/>
          </a:prstGeom>
          <a:solidFill>
            <a:srgbClr val="3A3D41"/>
          </a:solidFill>
          <a:ln/>
        </p:spPr>
      </p:sp>
      <p:sp>
        <p:nvSpPr>
          <p:cNvPr id="21" name="Text 16"/>
          <p:cNvSpPr/>
          <p:nvPr/>
        </p:nvSpPr>
        <p:spPr>
          <a:xfrm>
            <a:off x="6387940" y="4766548"/>
            <a:ext cx="519417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SĘDZIOWANIE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387940" y="5066112"/>
            <a:ext cx="49655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spc="-36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Punkty za czyste trafienia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387940" y="5426869"/>
            <a:ext cx="496557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Ciosy zadane w gardę lub nieprzepisowe uderzenia nie są punktowane przez sędziów.</a:t>
            </a:r>
            <a:endParaRPr lang="en-US" sz="1450" dirty="0"/>
          </a:p>
        </p:txBody>
      </p:sp>
      <p:sp>
        <p:nvSpPr>
          <p:cNvPr id="24" name="Shape 19"/>
          <p:cNvSpPr/>
          <p:nvPr/>
        </p:nvSpPr>
        <p:spPr>
          <a:xfrm>
            <a:off x="4260743" y="1500882"/>
            <a:ext cx="12700" cy="2877046"/>
          </a:xfrm>
          <a:prstGeom prst="rect">
            <a:avLst/>
          </a:prstGeom>
          <a:solidFill>
            <a:srgbClr val="4A525C"/>
          </a:solidFill>
          <a:ln/>
        </p:spPr>
      </p:sp>
      <p:sp>
        <p:nvSpPr>
          <p:cNvPr id="25" name="Shape 20"/>
          <p:cNvSpPr/>
          <p:nvPr/>
        </p:nvSpPr>
        <p:spPr>
          <a:xfrm>
            <a:off x="7918252" y="1500882"/>
            <a:ext cx="12700" cy="2877046"/>
          </a:xfrm>
          <a:prstGeom prst="rect">
            <a:avLst/>
          </a:prstGeom>
          <a:solidFill>
            <a:srgbClr val="4A525C"/>
          </a:solidFill>
          <a:ln/>
        </p:spPr>
      </p:sp>
      <p:sp>
        <p:nvSpPr>
          <p:cNvPr id="26" name="Text 21"/>
          <p:cNvSpPr/>
          <p:nvPr/>
        </p:nvSpPr>
        <p:spPr>
          <a:xfrm>
            <a:off x="11806339" y="6451898"/>
            <a:ext cx="38535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TRADYCJA I DEBIUT OLIMPIJSKI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7030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Karate łączy technikę, dyscyplinę i kontrolę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913261"/>
            <a:ext cx="6309262" cy="1986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Kumite to sportowa walka, a kata to ocena wcześniej ustalonych układów ruchów.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 kumite punkty zdobywa się za poprawnie wykonane, kontrolowane uderzenia i kopnięcia.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Współczesna forma karate rozwinęła się na Okinawie, a na igrzyskach zadebiutowała w Tokio 2020.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5936" y="1564382"/>
            <a:ext cx="4206174" cy="46840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02370" y="6451898"/>
            <a:ext cx="389325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2945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DYNAMIKA CHWYTÓW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929260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Judo i zapasy wykorzystują równowagę oraz dźwignię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513112"/>
          <a:ext cx="10972526" cy="914400"/>
        </p:xfrm>
        <a:graphic>
          <a:graphicData uri="http://schemas.openxmlformats.org/drawingml/2006/table">
            <a:tbl>
              <a:tblPr/>
              <a:tblGrid>
                <a:gridCol w="2633398"/>
                <a:gridCol w="8339127"/>
              </a:tblGrid>
              <a:tr h="4593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92" kern="100" dirty="0">
                          <a:solidFill>
                            <a:srgbClr val="F4F6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DYSCYPLINA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92" kern="100" dirty="0">
                          <a:solidFill>
                            <a:srgbClr val="F4F6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NAJWAŻNIEJSZE INFORMACJE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79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Judo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Judo koncentruje się na rzutach, chwytach i unieruchomieniach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09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Zapasy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 zapasach zwycięstwo można osiągnąć przez przypięcie przeciwnika lub przewagę punktową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46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Style zapasów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 stylu klasycznym wolno chwytać powyżej pasa, a w stylu wolnym także wykorzystywać nogi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809712" y="6451898"/>
            <a:ext cx="38198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3264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Taekwondo pokazuje szybkość i precyzję kopnięć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280616"/>
            <a:ext cx="5333867" cy="4967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8244" y="2771378"/>
            <a:ext cx="5333867" cy="1986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Zawodnicy zdobywają punkty za kontrolowane, celne techniki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Ważne są dystans, praca nóg, timing i reakcja na ruch przeciwnika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 sportach walki nie chodzi o siłę bez kontroli, lecz o technikę w ramach zasad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1805942" y="6451898"/>
            <a:ext cx="38575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METODYKA I ROZWÓJ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7030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Trening rozwija ciało, umysł i charakter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64382"/>
            <a:ext cx="11582110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Każda jednostka treningowa w klubie sportów walki ma logiczny, bezpieczny przebieg: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585" y="1958380"/>
            <a:ext cx="3572778" cy="2516684"/>
          </a:xfrm>
          <a:prstGeom prst="rect">
            <a:avLst/>
          </a:prstGeom>
          <a:noFill/>
          <a:ln w="25399">
            <a:solidFill>
              <a:srgbClr val="5356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4984" y="1983780"/>
            <a:ext cx="3521979" cy="377825"/>
          </a:xfrm>
          <a:prstGeom prst="rect">
            <a:avLst/>
          </a:prstGeom>
          <a:solidFill>
            <a:srgbClr val="3A3D41"/>
          </a:solidFill>
          <a:ln/>
        </p:spPr>
      </p:sp>
      <p:sp>
        <p:nvSpPr>
          <p:cNvPr id="7" name="Text 5"/>
          <p:cNvSpPr/>
          <p:nvPr/>
        </p:nvSpPr>
        <p:spPr>
          <a:xfrm>
            <a:off x="2345770" y="2053927"/>
            <a:ext cx="70999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D3D8D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0879" y="2476540"/>
            <a:ext cx="309019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Rozgrzewka i mobilność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0879" y="2936875"/>
            <a:ext cx="3090190" cy="13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Przygotowanie stawów, mięśni i układu krążenia. Ćwiczenia gimnastyczne i akrobatyczne budują zwinność oraz chronią przed kontuzjami.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09359" y="1958380"/>
            <a:ext cx="3572877" cy="2516684"/>
          </a:xfrm>
          <a:prstGeom prst="rect">
            <a:avLst/>
          </a:prstGeom>
          <a:noFill/>
          <a:ln w="25399">
            <a:solidFill>
              <a:srgbClr val="5356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4759" y="1983780"/>
            <a:ext cx="3522078" cy="377825"/>
          </a:xfrm>
          <a:prstGeom prst="rect">
            <a:avLst/>
          </a:prstGeom>
          <a:solidFill>
            <a:srgbClr val="3A3D41"/>
          </a:solidFill>
          <a:ln/>
        </p:spPr>
      </p:sp>
      <p:sp>
        <p:nvSpPr>
          <p:cNvPr id="12" name="Text 10"/>
          <p:cNvSpPr/>
          <p:nvPr/>
        </p:nvSpPr>
        <p:spPr>
          <a:xfrm>
            <a:off x="6021832" y="2053927"/>
            <a:ext cx="757516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D3D8D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4550653" y="2476540"/>
            <a:ext cx="309028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Technika i zadania w parach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50653" y="2936875"/>
            <a:ext cx="3090289" cy="13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Szlifowanie powtarzalnych ruchów na tarczach, workach lub w kontrolowanych ćwiczeniach z partnerem bez intencji zadania bólu.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009233" y="1958380"/>
            <a:ext cx="3572877" cy="2516684"/>
          </a:xfrm>
          <a:prstGeom prst="rect">
            <a:avLst/>
          </a:prstGeom>
          <a:noFill/>
          <a:ln w="25399">
            <a:solidFill>
              <a:srgbClr val="5356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34633" y="1983780"/>
            <a:ext cx="3522078" cy="377825"/>
          </a:xfrm>
          <a:prstGeom prst="rect">
            <a:avLst/>
          </a:prstGeom>
          <a:solidFill>
            <a:srgbClr val="3A3D41"/>
          </a:solidFill>
          <a:ln/>
        </p:spPr>
      </p:sp>
      <p:sp>
        <p:nvSpPr>
          <p:cNvPr id="17" name="Text 15"/>
          <p:cNvSpPr/>
          <p:nvPr/>
        </p:nvSpPr>
        <p:spPr>
          <a:xfrm>
            <a:off x="9720119" y="2053927"/>
            <a:ext cx="76059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D3D8D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8250527" y="2476540"/>
            <a:ext cx="309028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Sparing i wyciszenie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50527" y="2936875"/>
            <a:ext cx="3090289" cy="13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Sprawdzenie nabytych umiejętności w umownych warunkach, po którym następuje analiza błędów, rozciąganie i ukłon szacunku.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09585" y="4602063"/>
            <a:ext cx="3572877" cy="1681758"/>
          </a:xfrm>
          <a:prstGeom prst="rect">
            <a:avLst/>
          </a:prstGeom>
          <a:solidFill>
            <a:srgbClr val="3A3D41"/>
          </a:solidFill>
          <a:ln/>
        </p:spPr>
      </p:sp>
      <p:sp>
        <p:nvSpPr>
          <p:cNvPr id="21" name="Text 19"/>
          <p:cNvSpPr/>
          <p:nvPr/>
        </p:nvSpPr>
        <p:spPr>
          <a:xfrm>
            <a:off x="787380" y="4783435"/>
            <a:ext cx="33950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Ciało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87380" y="5211269"/>
            <a:ext cx="32172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spc="-36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Kondycja i refleks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87380" y="5572026"/>
            <a:ext cx="321728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Równomierny rozwój wszystkich partii mięśniowych.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309359" y="4602063"/>
            <a:ext cx="3572976" cy="1681758"/>
          </a:xfrm>
          <a:prstGeom prst="rect">
            <a:avLst/>
          </a:prstGeom>
          <a:solidFill>
            <a:srgbClr val="3A3D41"/>
          </a:solidFill>
          <a:ln/>
        </p:spPr>
      </p:sp>
      <p:sp>
        <p:nvSpPr>
          <p:cNvPr id="25" name="Text 23"/>
          <p:cNvSpPr/>
          <p:nvPr/>
        </p:nvSpPr>
        <p:spPr>
          <a:xfrm>
            <a:off x="4487155" y="4783435"/>
            <a:ext cx="33951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Umysł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487155" y="5211269"/>
            <a:ext cx="321738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spc="-36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Koncentracja i spokój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487155" y="5572026"/>
            <a:ext cx="3217385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Nauka opanowania stresu w trudnych sytuacjach.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8009233" y="4602063"/>
            <a:ext cx="3572877" cy="1681758"/>
          </a:xfrm>
          <a:prstGeom prst="rect">
            <a:avLst/>
          </a:prstGeom>
          <a:solidFill>
            <a:srgbClr val="3A3D41"/>
          </a:solidFill>
          <a:ln/>
        </p:spPr>
      </p:sp>
      <p:sp>
        <p:nvSpPr>
          <p:cNvPr id="29" name="Text 27"/>
          <p:cNvSpPr/>
          <p:nvPr/>
        </p:nvSpPr>
        <p:spPr>
          <a:xfrm>
            <a:off x="8187029" y="4783435"/>
            <a:ext cx="33950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Charakter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187029" y="5211269"/>
            <a:ext cx="32172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spc="-36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Pokora i dyscyplina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187029" y="5572026"/>
            <a:ext cx="321728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Szacunek dla rywala i cierpliwość w pracy nad sobą.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1816261" y="6451898"/>
            <a:ext cx="37543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ŚWIADOMY WYBÓR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7030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Bezpieczeństwo jest częścią zwycięstwa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564382"/>
            <a:ext cx="10972526" cy="1358106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089567"/>
            <a:ext cx="10743931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Trening powinien odbywać się pod opieką wykwalifikowanego instruktora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585" y="3227288"/>
            <a:ext cx="10972526" cy="1358106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3752473"/>
            <a:ext cx="10743931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Sprzęt ochronny, rozgrzewka, kontrola siły i respektowanie przeciwnika ograniczają ryzyko urazów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9585" y="4890195"/>
            <a:ext cx="10972526" cy="1358205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9" name="Text 7"/>
          <p:cNvSpPr/>
          <p:nvPr/>
        </p:nvSpPr>
        <p:spPr>
          <a:xfrm>
            <a:off x="838179" y="5415478"/>
            <a:ext cx="10743931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Najlepszą dyscyplinę wybiera się według celu, charakteru, kondycji i własnych zainteresowań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806240" y="6451898"/>
            <a:ext cx="385455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2026-10-19T15:51:40Z</dcterms:created>
  <dcterms:modified xsi:type="dcterms:W3CDTF">2026-10-19T15:51:40Z</dcterms:modified>
</cp:coreProperties>
</file>